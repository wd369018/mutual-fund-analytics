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70FAED-94AD-488D-A0CB-F0C9BED2DF2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6BA137A-4410-4A96-A933-C9D1A4868EDD}">
      <dgm:prSet phldrT="[Text]" phldr="0"/>
      <dgm:spPr/>
      <dgm:t>
        <a:bodyPr/>
        <a:lstStyle/>
        <a:p>
          <a:r>
            <a:rPr lang="en-IN" dirty="0"/>
            <a:t>csv data</a:t>
          </a:r>
        </a:p>
      </dgm:t>
    </dgm:pt>
    <dgm:pt modelId="{A4D3E5B0-25CC-47D3-A377-DC97DDC0C8EE}" type="parTrans" cxnId="{04FFFC0F-E718-43F2-AE38-BBF2098E76E1}">
      <dgm:prSet/>
      <dgm:spPr/>
      <dgm:t>
        <a:bodyPr/>
        <a:lstStyle/>
        <a:p>
          <a:endParaRPr lang="en-IN"/>
        </a:p>
      </dgm:t>
    </dgm:pt>
    <dgm:pt modelId="{5709F9EA-F0B3-4837-AC54-D06D8D4EE33C}" type="sibTrans" cxnId="{04FFFC0F-E718-43F2-AE38-BBF2098E76E1}">
      <dgm:prSet/>
      <dgm:spPr/>
      <dgm:t>
        <a:bodyPr/>
        <a:lstStyle/>
        <a:p>
          <a:endParaRPr lang="en-IN"/>
        </a:p>
      </dgm:t>
    </dgm:pt>
    <dgm:pt modelId="{C8952F3F-4F39-429F-BF08-D2674A6B344B}">
      <dgm:prSet phldrT="[Text]" phldr="0"/>
      <dgm:spPr/>
      <dgm:t>
        <a:bodyPr/>
        <a:lstStyle/>
        <a:p>
          <a:r>
            <a:rPr lang="en-IN" dirty="0"/>
            <a:t>Data cleaning &amp; transformation</a:t>
          </a:r>
        </a:p>
      </dgm:t>
    </dgm:pt>
    <dgm:pt modelId="{131E253D-384E-40FC-B5A1-58C456485017}" type="parTrans" cxnId="{BD80B6B6-5069-42EC-929A-6D695EBEBB90}">
      <dgm:prSet/>
      <dgm:spPr/>
      <dgm:t>
        <a:bodyPr/>
        <a:lstStyle/>
        <a:p>
          <a:endParaRPr lang="en-IN"/>
        </a:p>
      </dgm:t>
    </dgm:pt>
    <dgm:pt modelId="{392426A4-BE5A-4D86-A4C4-091B1B7CFEC0}" type="sibTrans" cxnId="{BD80B6B6-5069-42EC-929A-6D695EBEBB90}">
      <dgm:prSet/>
      <dgm:spPr/>
      <dgm:t>
        <a:bodyPr/>
        <a:lstStyle/>
        <a:p>
          <a:endParaRPr lang="en-IN"/>
        </a:p>
      </dgm:t>
    </dgm:pt>
    <dgm:pt modelId="{CD6B19E8-4714-49D8-AEB4-0F671C64004D}">
      <dgm:prSet phldrT="[Text]" phldr="0"/>
      <dgm:spPr/>
      <dgm:t>
        <a:bodyPr/>
        <a:lstStyle/>
        <a:p>
          <a:r>
            <a:rPr lang="en-IN" dirty="0"/>
            <a:t>Power BI dashboard</a:t>
          </a:r>
        </a:p>
      </dgm:t>
    </dgm:pt>
    <dgm:pt modelId="{737DB080-4119-4983-BFAD-092B7E26AD31}" type="sibTrans" cxnId="{38BCCBEC-7DA3-4053-BD01-5ECE5BFC68F5}">
      <dgm:prSet/>
      <dgm:spPr/>
      <dgm:t>
        <a:bodyPr/>
        <a:lstStyle/>
        <a:p>
          <a:endParaRPr lang="en-IN"/>
        </a:p>
      </dgm:t>
    </dgm:pt>
    <dgm:pt modelId="{0A63F7B2-1A11-498D-AF95-3C27DCDC5340}" type="parTrans" cxnId="{38BCCBEC-7DA3-4053-BD01-5ECE5BFC68F5}">
      <dgm:prSet/>
      <dgm:spPr/>
      <dgm:t>
        <a:bodyPr/>
        <a:lstStyle/>
        <a:p>
          <a:endParaRPr lang="en-IN"/>
        </a:p>
      </dgm:t>
    </dgm:pt>
    <dgm:pt modelId="{5A4D9486-39B3-44EB-9D10-B1475E845826}" type="pres">
      <dgm:prSet presAssocID="{2670FAED-94AD-488D-A0CB-F0C9BED2DF25}" presName="Name0" presStyleCnt="0">
        <dgm:presLayoutVars>
          <dgm:dir/>
          <dgm:resizeHandles val="exact"/>
        </dgm:presLayoutVars>
      </dgm:prSet>
      <dgm:spPr/>
    </dgm:pt>
    <dgm:pt modelId="{06EA63A1-09B9-4A38-ACAA-A791B1087676}" type="pres">
      <dgm:prSet presAssocID="{A6BA137A-4410-4A96-A933-C9D1A4868EDD}" presName="node" presStyleLbl="node1" presStyleIdx="0" presStyleCnt="3">
        <dgm:presLayoutVars>
          <dgm:bulletEnabled val="1"/>
        </dgm:presLayoutVars>
      </dgm:prSet>
      <dgm:spPr/>
    </dgm:pt>
    <dgm:pt modelId="{E5015A23-6516-464B-9A0D-B0C014EE77F4}" type="pres">
      <dgm:prSet presAssocID="{5709F9EA-F0B3-4837-AC54-D06D8D4EE33C}" presName="sibTrans" presStyleLbl="sibTrans2D1" presStyleIdx="0" presStyleCnt="2"/>
      <dgm:spPr/>
    </dgm:pt>
    <dgm:pt modelId="{FB3707CB-0161-4AED-ADA1-7983B3AE746A}" type="pres">
      <dgm:prSet presAssocID="{5709F9EA-F0B3-4837-AC54-D06D8D4EE33C}" presName="connectorText" presStyleLbl="sibTrans2D1" presStyleIdx="0" presStyleCnt="2"/>
      <dgm:spPr/>
    </dgm:pt>
    <dgm:pt modelId="{B09B66C4-BAFA-4F41-9240-C79131DC7929}" type="pres">
      <dgm:prSet presAssocID="{C8952F3F-4F39-429F-BF08-D2674A6B344B}" presName="node" presStyleLbl="node1" presStyleIdx="1" presStyleCnt="3">
        <dgm:presLayoutVars>
          <dgm:bulletEnabled val="1"/>
        </dgm:presLayoutVars>
      </dgm:prSet>
      <dgm:spPr/>
    </dgm:pt>
    <dgm:pt modelId="{FA411054-7DC2-4D1E-BC68-F621C3A0CAA1}" type="pres">
      <dgm:prSet presAssocID="{392426A4-BE5A-4D86-A4C4-091B1B7CFEC0}" presName="sibTrans" presStyleLbl="sibTrans2D1" presStyleIdx="1" presStyleCnt="2"/>
      <dgm:spPr/>
    </dgm:pt>
    <dgm:pt modelId="{F39692B1-1CEC-42D5-8E31-478371577D09}" type="pres">
      <dgm:prSet presAssocID="{392426A4-BE5A-4D86-A4C4-091B1B7CFEC0}" presName="connectorText" presStyleLbl="sibTrans2D1" presStyleIdx="1" presStyleCnt="2"/>
      <dgm:spPr/>
    </dgm:pt>
    <dgm:pt modelId="{8BA56A5B-6124-47CE-B5E0-4CA67DC861E4}" type="pres">
      <dgm:prSet presAssocID="{CD6B19E8-4714-49D8-AEB4-0F671C64004D}" presName="node" presStyleLbl="node1" presStyleIdx="2" presStyleCnt="3">
        <dgm:presLayoutVars>
          <dgm:bulletEnabled val="1"/>
        </dgm:presLayoutVars>
      </dgm:prSet>
      <dgm:spPr/>
    </dgm:pt>
  </dgm:ptLst>
  <dgm:cxnLst>
    <dgm:cxn modelId="{44A92003-C8D1-4363-A915-FF9F5C57E69F}" type="presOf" srcId="{5709F9EA-F0B3-4837-AC54-D06D8D4EE33C}" destId="{E5015A23-6516-464B-9A0D-B0C014EE77F4}" srcOrd="0" destOrd="0" presId="urn:microsoft.com/office/officeart/2005/8/layout/process1"/>
    <dgm:cxn modelId="{9DDE310F-2064-4E34-9525-5C3E67A28987}" type="presOf" srcId="{C8952F3F-4F39-429F-BF08-D2674A6B344B}" destId="{B09B66C4-BAFA-4F41-9240-C79131DC7929}" srcOrd="0" destOrd="0" presId="urn:microsoft.com/office/officeart/2005/8/layout/process1"/>
    <dgm:cxn modelId="{04FFFC0F-E718-43F2-AE38-BBF2098E76E1}" srcId="{2670FAED-94AD-488D-A0CB-F0C9BED2DF25}" destId="{A6BA137A-4410-4A96-A933-C9D1A4868EDD}" srcOrd="0" destOrd="0" parTransId="{A4D3E5B0-25CC-47D3-A377-DC97DDC0C8EE}" sibTransId="{5709F9EA-F0B3-4837-AC54-D06D8D4EE33C}"/>
    <dgm:cxn modelId="{620B3948-D6E6-4ADF-8200-7BF6B0A883F7}" type="presOf" srcId="{CD6B19E8-4714-49D8-AEB4-0F671C64004D}" destId="{8BA56A5B-6124-47CE-B5E0-4CA67DC861E4}" srcOrd="0" destOrd="0" presId="urn:microsoft.com/office/officeart/2005/8/layout/process1"/>
    <dgm:cxn modelId="{77E2CF7E-E7B0-4A6C-854C-4E491BDD24CD}" type="presOf" srcId="{5709F9EA-F0B3-4837-AC54-D06D8D4EE33C}" destId="{FB3707CB-0161-4AED-ADA1-7983B3AE746A}" srcOrd="1" destOrd="0" presId="urn:microsoft.com/office/officeart/2005/8/layout/process1"/>
    <dgm:cxn modelId="{BD80B6B6-5069-42EC-929A-6D695EBEBB90}" srcId="{2670FAED-94AD-488D-A0CB-F0C9BED2DF25}" destId="{C8952F3F-4F39-429F-BF08-D2674A6B344B}" srcOrd="1" destOrd="0" parTransId="{131E253D-384E-40FC-B5A1-58C456485017}" sibTransId="{392426A4-BE5A-4D86-A4C4-091B1B7CFEC0}"/>
    <dgm:cxn modelId="{8594C9CC-210C-49FC-902A-91ADB0510C57}" type="presOf" srcId="{2670FAED-94AD-488D-A0CB-F0C9BED2DF25}" destId="{5A4D9486-39B3-44EB-9D10-B1475E845826}" srcOrd="0" destOrd="0" presId="urn:microsoft.com/office/officeart/2005/8/layout/process1"/>
    <dgm:cxn modelId="{8551CCCD-7893-48E1-A154-004CA82E57A0}" type="presOf" srcId="{A6BA137A-4410-4A96-A933-C9D1A4868EDD}" destId="{06EA63A1-09B9-4A38-ACAA-A791B1087676}" srcOrd="0" destOrd="0" presId="urn:microsoft.com/office/officeart/2005/8/layout/process1"/>
    <dgm:cxn modelId="{E67DCED6-C49D-4238-B1F8-94FA4CAFA77A}" type="presOf" srcId="{392426A4-BE5A-4D86-A4C4-091B1B7CFEC0}" destId="{FA411054-7DC2-4D1E-BC68-F621C3A0CAA1}" srcOrd="0" destOrd="0" presId="urn:microsoft.com/office/officeart/2005/8/layout/process1"/>
    <dgm:cxn modelId="{38BCCBEC-7DA3-4053-BD01-5ECE5BFC68F5}" srcId="{2670FAED-94AD-488D-A0CB-F0C9BED2DF25}" destId="{CD6B19E8-4714-49D8-AEB4-0F671C64004D}" srcOrd="2" destOrd="0" parTransId="{0A63F7B2-1A11-498D-AF95-3C27DCDC5340}" sibTransId="{737DB080-4119-4983-BFAD-092B7E26AD31}"/>
    <dgm:cxn modelId="{9114E1F9-4683-4A58-8AAD-13E3A9BB42F6}" type="presOf" srcId="{392426A4-BE5A-4D86-A4C4-091B1B7CFEC0}" destId="{F39692B1-1CEC-42D5-8E31-478371577D09}" srcOrd="1" destOrd="0" presId="urn:microsoft.com/office/officeart/2005/8/layout/process1"/>
    <dgm:cxn modelId="{D016DDBE-ADFC-4E59-B8BD-0E3FDE8C3E69}" type="presParOf" srcId="{5A4D9486-39B3-44EB-9D10-B1475E845826}" destId="{06EA63A1-09B9-4A38-ACAA-A791B1087676}" srcOrd="0" destOrd="0" presId="urn:microsoft.com/office/officeart/2005/8/layout/process1"/>
    <dgm:cxn modelId="{97EC80F2-612B-4933-B710-AA4338D0DB11}" type="presParOf" srcId="{5A4D9486-39B3-44EB-9D10-B1475E845826}" destId="{E5015A23-6516-464B-9A0D-B0C014EE77F4}" srcOrd="1" destOrd="0" presId="urn:microsoft.com/office/officeart/2005/8/layout/process1"/>
    <dgm:cxn modelId="{3C0940B1-0B86-46E1-BD08-5221208B680C}" type="presParOf" srcId="{E5015A23-6516-464B-9A0D-B0C014EE77F4}" destId="{FB3707CB-0161-4AED-ADA1-7983B3AE746A}" srcOrd="0" destOrd="0" presId="urn:microsoft.com/office/officeart/2005/8/layout/process1"/>
    <dgm:cxn modelId="{FE719D83-B139-4B96-8354-4E17D46FF28C}" type="presParOf" srcId="{5A4D9486-39B3-44EB-9D10-B1475E845826}" destId="{B09B66C4-BAFA-4F41-9240-C79131DC7929}" srcOrd="2" destOrd="0" presId="urn:microsoft.com/office/officeart/2005/8/layout/process1"/>
    <dgm:cxn modelId="{4EDC2ED7-D9AB-4207-8F43-9D5E9DDB10FC}" type="presParOf" srcId="{5A4D9486-39B3-44EB-9D10-B1475E845826}" destId="{FA411054-7DC2-4D1E-BC68-F621C3A0CAA1}" srcOrd="3" destOrd="0" presId="urn:microsoft.com/office/officeart/2005/8/layout/process1"/>
    <dgm:cxn modelId="{316175DA-925E-487A-8F0F-0E85881D2777}" type="presParOf" srcId="{FA411054-7DC2-4D1E-BC68-F621C3A0CAA1}" destId="{F39692B1-1CEC-42D5-8E31-478371577D09}" srcOrd="0" destOrd="0" presId="urn:microsoft.com/office/officeart/2005/8/layout/process1"/>
    <dgm:cxn modelId="{AA7808DE-6777-41C3-A6BD-519028126448}" type="presParOf" srcId="{5A4D9486-39B3-44EB-9D10-B1475E845826}" destId="{8BA56A5B-6124-47CE-B5E0-4CA67DC861E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A63A1-09B9-4A38-ACAA-A791B1087676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csv data</a:t>
          </a:r>
        </a:p>
      </dsp:txBody>
      <dsp:txXfrm>
        <a:off x="57787" y="1395494"/>
        <a:ext cx="2665308" cy="1560349"/>
      </dsp:txXfrm>
    </dsp:sp>
    <dsp:sp modelId="{E5015A23-6516-464B-9A0D-B0C014EE77F4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3047880" y="1970146"/>
        <a:ext cx="409940" cy="411044"/>
      </dsp:txXfrm>
    </dsp:sp>
    <dsp:sp modelId="{B09B66C4-BAFA-4F41-9240-C79131DC7929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Data cleaning &amp; transformation</a:t>
          </a:r>
        </a:p>
      </dsp:txBody>
      <dsp:txXfrm>
        <a:off x="3925145" y="1395494"/>
        <a:ext cx="2665308" cy="1560349"/>
      </dsp:txXfrm>
    </dsp:sp>
    <dsp:sp modelId="{FA411054-7DC2-4D1E-BC68-F621C3A0CAA1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915239" y="1970146"/>
        <a:ext cx="409940" cy="411044"/>
      </dsp:txXfrm>
    </dsp:sp>
    <dsp:sp modelId="{8BA56A5B-6124-47CE-B5E0-4CA67DC861E4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Power BI dashboard</a:t>
          </a:r>
        </a:p>
      </dsp:txBody>
      <dsp:txXfrm>
        <a:off x="7792503" y="1395494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A6C5-1530-8D9E-1929-AA6731FA3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F5E68-DFB2-CB6A-8E0A-4E6C69A46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40954-0F73-2735-2F10-220FD7FC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03BE1-2EF7-1A1B-1235-957EE2A0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8F9DE-260C-2749-49D8-8B3DC63D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54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B332-6E10-4AB1-386B-A9BC7F0C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822DC-5FF8-4C55-304D-9D7D5D2FD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2D981-C92B-F53B-032A-199549F64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FEC76-1F34-4075-E5EE-8171E3EA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A9329-5E1E-D051-28E8-8512BDAF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1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D80E-C6F9-C292-5D38-18EB8283C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F2E8C-307E-6E68-BF41-601AAC488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37415-928D-7849-1B40-0E3862AF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53E7A-7E23-27FE-4909-CCC07CAC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73C8B-0325-DC94-E0B3-B5C06574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14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AA80-759F-8194-E33D-77010F0A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CAF30-1403-0C32-06F4-E35CC8FE6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0CAC5-B3D4-9E1D-F20A-86AA230DD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363DC-1D0C-88F2-CE22-04A86B19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74E4B-1BE8-B17B-C15D-A842BE9F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12027-EF07-28C4-ECED-226BFB03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93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E59D-D5AB-04DE-76F7-CD6A1341E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81EAF-1D0D-4D55-8939-55CE4815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0CBBB-9C4A-E19B-F6F4-A065AEF91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58DA3-1F60-5CBF-4975-609E48A56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69B92-DB37-9513-523A-4A6EC9015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91F35-3C62-5DC3-9160-5947EC266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D185AE-5546-756C-7FE9-4D5DF130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24922-4001-8DA7-1944-8364FE33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64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5ABF-C483-989F-4E94-BB5D9EA3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A1035-E33B-3736-2FFC-942653D0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B6EFB-2A17-1C91-9794-906739D5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AA1A5-2C21-F6C3-22B6-EEB04E96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16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CCAAE-FC03-6C7D-7D66-CDBE2648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00274-B075-05A1-36BC-5C794C7B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B2910-BB83-5897-58B6-26D824BC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39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1B84-3F11-5CD6-3AA6-A620EA89E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1CB1-91F5-DC36-95A1-F0BE7291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7BD61-C0B6-0413-1821-F0DC3A9B6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FFAFF-EF6B-726A-C328-5A34A5F1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7C84C-2ABC-F5D8-65F2-AC9A628D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5EA6A-4D94-D7C8-1230-A03611E9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8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E062-10B2-7F60-74B9-C7109DE0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8FF56-E3D0-E867-3ED9-1ACE8E382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99B27-AC18-C90F-7A24-CFD49B6F8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9B47B-4E26-71E0-1E35-5E82D246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44F50-7879-BBB4-13CF-A42388E3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FD0B5-065F-0D44-3C0E-5F04FD72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95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164F-6871-440C-5C84-124E630C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55DA8-4FF0-6408-6ABE-84E085CB9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63DFE-9391-2106-FCCC-4DAD6824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D9245-2AC0-6A99-E79D-21B95998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850D0-6036-154B-9B8B-470C69C4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8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CB424-F16A-2AE2-11C0-C9E1C659A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FC795-EC5B-6042-EA2F-E6D9CAA5C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56405-786A-7446-96BD-16087306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1B93A-98EE-335B-7138-2F57E98F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D7482-6DF3-1F0B-40A6-B6EBDCA7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7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30D61-DF6C-AADF-8D82-61413C89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1F48B-6C48-5933-7D90-BE1A0ABF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286C0-6B18-D79B-468E-0663D723D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97FFE-9B09-45D8-8979-87EB2CD51D3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EBF60-507A-3A46-18CB-BE7DE902F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6C5B-0B83-0D00-2B8E-668FAFD52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8EF54-94ED-4AF3-9643-C8AEF6D27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8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D5BE-3AEC-DCED-6C9A-D6C0D6C25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Mutual Fund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54BDC-4787-A929-2196-65D5494F6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Data Analytics, Performance Evaluation &amp; Investor Insights</a:t>
            </a:r>
          </a:p>
          <a:p>
            <a:r>
              <a:rPr lang="en-IN" dirty="0"/>
              <a:t>Presented by: Krishna Kumar Verma</a:t>
            </a:r>
            <a:br>
              <a:rPr lang="en-IN" dirty="0"/>
            </a:br>
            <a:r>
              <a:rPr lang="en-IN" dirty="0"/>
              <a:t>B.Tech. CSE (AI)</a:t>
            </a:r>
            <a:br>
              <a:rPr lang="en-IN" dirty="0"/>
            </a:br>
            <a:r>
              <a:rPr lang="en-IN" dirty="0"/>
              <a:t>Chhatrapati Shahu Ji Maharaj University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76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74D9-DA22-C533-10C0-3C557CED6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D4982-9AE1-4BB0-A7DF-154D83BBD2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/>
              <a:t>• Mutual fund data is large and difficult to </a:t>
            </a:r>
            <a:r>
              <a:rPr lang="en-IN" dirty="0" err="1"/>
              <a:t>analyze</a:t>
            </a:r>
            <a:r>
              <a:rPr lang="en-IN" dirty="0"/>
              <a:t> manually.</a:t>
            </a:r>
            <a:br>
              <a:rPr lang="en-IN" dirty="0"/>
            </a:br>
            <a:r>
              <a:rPr lang="en-IN" dirty="0"/>
              <a:t>• Investors need clear information about fund risk and returns.</a:t>
            </a:r>
            <a:br>
              <a:rPr lang="en-IN" dirty="0"/>
            </a:br>
            <a:r>
              <a:rPr lang="en-IN" dirty="0"/>
              <a:t>• Raw financial datasets require cleaning and transformation.</a:t>
            </a:r>
            <a:br>
              <a:rPr lang="en-IN" dirty="0"/>
            </a:br>
            <a:r>
              <a:rPr lang="en-IN" dirty="0"/>
              <a:t>• Comparing multiple schemes manually is time-consuming.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308AF-9D67-32A7-5B0D-EE72CF60F9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NAV, AUM, SIP and investor transactions.</a:t>
            </a:r>
            <a:br>
              <a:rPr lang="en-IN" dirty="0"/>
            </a:br>
            <a:r>
              <a:rPr lang="en-IN" dirty="0"/>
              <a:t>• Evaluate fund performance and risk.</a:t>
            </a:r>
            <a:br>
              <a:rPr lang="en-IN" dirty="0"/>
            </a:br>
            <a:r>
              <a:rPr lang="en-IN" dirty="0"/>
              <a:t>• Identify industry and investor trends.</a:t>
            </a:r>
            <a:br>
              <a:rPr lang="en-IN" dirty="0"/>
            </a:br>
            <a:r>
              <a:rPr lang="en-IN" dirty="0"/>
              <a:t>• Build an interactive Power BI dashboard.</a:t>
            </a:r>
          </a:p>
        </p:txBody>
      </p:sp>
    </p:spTree>
    <p:extLst>
      <p:ext uri="{BB962C8B-B14F-4D97-AF65-F5344CB8AC3E}">
        <p14:creationId xmlns:p14="http://schemas.microsoft.com/office/powerpoint/2010/main" val="48604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0BF2-9245-03FD-890B-87542A3F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EC495-503F-FD90-D5F0-81448438C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26040" cy="401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• Fund Master — 40 schemes</a:t>
            </a:r>
            <a:br>
              <a:rPr lang="en-IN" dirty="0"/>
            </a:br>
            <a:r>
              <a:rPr lang="en-IN" dirty="0"/>
              <a:t>• NAV History — ~46,000 records</a:t>
            </a:r>
            <a:br>
              <a:rPr lang="en-IN" dirty="0"/>
            </a:br>
            <a:r>
              <a:rPr lang="en-IN" dirty="0"/>
              <a:t>• AUM by Fund House</a:t>
            </a:r>
            <a:br>
              <a:rPr lang="en-IN" dirty="0"/>
            </a:br>
            <a:r>
              <a:rPr lang="en-IN" dirty="0"/>
              <a:t>• Monthly SIP Inflows</a:t>
            </a:r>
            <a:br>
              <a:rPr lang="en-IN" dirty="0"/>
            </a:br>
            <a:r>
              <a:rPr lang="en-IN" dirty="0"/>
              <a:t>• Category Inflows</a:t>
            </a:r>
            <a:br>
              <a:rPr lang="en-IN" dirty="0"/>
            </a:br>
            <a:r>
              <a:rPr lang="en-IN" dirty="0"/>
              <a:t>• Industry Folio Count</a:t>
            </a:r>
            <a:br>
              <a:rPr lang="en-IN" dirty="0"/>
            </a:br>
            <a:r>
              <a:rPr lang="en-IN" dirty="0"/>
              <a:t>• Scheme Performance</a:t>
            </a:r>
            <a:br>
              <a:rPr lang="en-IN" dirty="0"/>
            </a:br>
            <a:r>
              <a:rPr lang="en-IN" dirty="0"/>
              <a:t>• Investor Transactions — ~32,778 records</a:t>
            </a:r>
            <a:br>
              <a:rPr lang="en-IN" dirty="0"/>
            </a:br>
            <a:r>
              <a:rPr lang="en-IN" dirty="0"/>
              <a:t>• Portfolio Holdings</a:t>
            </a:r>
            <a:br>
              <a:rPr lang="en-IN" dirty="0"/>
            </a:br>
            <a:r>
              <a:rPr lang="en-IN" dirty="0"/>
              <a:t>• Benchmark Indices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3DAFF-4760-55B0-2990-22DD43F5BB51}"/>
              </a:ext>
            </a:extLst>
          </p:cNvPr>
          <p:cNvSpPr txBox="1"/>
          <p:nvPr/>
        </p:nvSpPr>
        <p:spPr>
          <a:xfrm>
            <a:off x="838200" y="6123543"/>
            <a:ext cx="1085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Technologies:</a:t>
            </a:r>
            <a:r>
              <a:rPr lang="en-IN" dirty="0"/>
              <a:t> Python | Pandas | SQL | SQLite | Power BI</a:t>
            </a:r>
          </a:p>
        </p:txBody>
      </p:sp>
    </p:spTree>
    <p:extLst>
      <p:ext uri="{BB962C8B-B14F-4D97-AF65-F5344CB8AC3E}">
        <p14:creationId xmlns:p14="http://schemas.microsoft.com/office/powerpoint/2010/main" val="60260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97D6-4B3C-8161-E5A8-E343C25D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CD0EEC-3C21-94B0-E8D3-51BC49E77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4943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685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1AFA3-AD38-C76A-CEDF-2A00A932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Industry Trends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2A1F-7B0D-5944-2476-A4549EE57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200"/>
              <a:t>• Analyzed AUM growth across the study period.</a:t>
            </a:r>
            <a:br>
              <a:rPr lang="en-US" sz="2200"/>
            </a:br>
            <a:r>
              <a:rPr lang="en-US" sz="2200"/>
              <a:t>• Examined monthly SIP inflow trends.</a:t>
            </a:r>
            <a:br>
              <a:rPr lang="en-US" sz="2200"/>
            </a:br>
            <a:r>
              <a:rPr lang="en-US" sz="2200"/>
              <a:t>• Compared AUM across fund houses.</a:t>
            </a:r>
            <a:br>
              <a:rPr lang="en-US" sz="2200"/>
            </a:br>
            <a:r>
              <a:rPr lang="en-US" sz="2200"/>
              <a:t>• Analyzed category-wise inflows.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2A6C7F-E360-0EA0-5A5A-8DB72904BA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4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AC7A9-8D5B-C569-3A55-17AA3822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Investor Analytics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8392B-6B34-887E-8459-41171750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200"/>
              <a:t>• Analyzed investor transactions by state.</a:t>
            </a:r>
            <a:br>
              <a:rPr lang="en-US" sz="2200"/>
            </a:br>
            <a:r>
              <a:rPr lang="en-US" sz="2200"/>
              <a:t>• Compared SIP, Lumpsum and Redemption transactions.</a:t>
            </a:r>
            <a:br>
              <a:rPr lang="en-US" sz="2200"/>
            </a:br>
            <a:r>
              <a:rPr lang="en-US" sz="2200"/>
              <a:t>• Performed investor cohort analysis.</a:t>
            </a:r>
            <a:br>
              <a:rPr lang="en-US" sz="2200"/>
            </a:br>
            <a:r>
              <a:rPr lang="en-US" sz="2200"/>
              <a:t>• Analyzed SIP continuity and at-risk investors.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A258DB-12FD-233F-270D-E6F2AF135A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3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37179-C94C-9AC0-9A07-3C329F6B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Return &amp;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BE381-11DB-9CD7-C889-62B3337F7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1-Year CAGR</a:t>
            </a:r>
            <a:b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3-Year CAGR</a:t>
            </a:r>
            <a:b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5-Year CAGR</a:t>
            </a:r>
            <a:b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Standard Deviation</a:t>
            </a:r>
            <a:b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Sharpe Ratio</a:t>
            </a:r>
            <a:b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Sortino Ratio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569E2E-4996-4322-69B8-462E25830D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86173"/>
            <a:ext cx="7214616" cy="405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47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B894D-8FA9-C772-69FD-8CA56FEA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Advanced Risk &amp; Performance Analysis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4DE03-72BC-C88C-8F33-A22E5CC52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200"/>
              <a:t>• Alpha &amp; Beta</a:t>
            </a:r>
            <a:br>
              <a:rPr lang="en-US" sz="2200"/>
            </a:br>
            <a:r>
              <a:rPr lang="en-US" sz="2200"/>
              <a:t>• Maximum Drawdown</a:t>
            </a:r>
            <a:br>
              <a:rPr lang="en-US" sz="2200"/>
            </a:br>
            <a:r>
              <a:rPr lang="en-US" sz="2200"/>
              <a:t>• Historical VaR (95%)</a:t>
            </a:r>
            <a:br>
              <a:rPr lang="en-US" sz="2200"/>
            </a:br>
            <a:r>
              <a:rPr lang="en-US" sz="2200"/>
              <a:t>• CVaR</a:t>
            </a:r>
            <a:br>
              <a:rPr lang="en-US" sz="2200"/>
            </a:br>
            <a:r>
              <a:rPr lang="en-US" sz="2200"/>
              <a:t>• 90-Day Rolling Sharpe Ratio</a:t>
            </a:r>
            <a:br>
              <a:rPr lang="en-US" sz="2200"/>
            </a:br>
            <a:r>
              <a:rPr lang="en-US" sz="2200"/>
              <a:t>• Composite Fund Scorecard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4581F8-735B-11E7-B1BC-F73D20A940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703070"/>
            <a:ext cx="6903720" cy="345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0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EC802-81A6-8077-1C62-5351D7C7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29574"/>
            <a:ext cx="8328238" cy="918013"/>
          </a:xfrm>
        </p:spPr>
        <p:txBody>
          <a:bodyPr anchor="b">
            <a:normAutofit/>
          </a:bodyPr>
          <a:lstStyle/>
          <a:p>
            <a:r>
              <a:rPr lang="en-IN" sz="5400" dirty="0"/>
              <a:t>Industry Overview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447AF3-C610-5964-0CAB-8D77D3CE0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5749046"/>
            <a:ext cx="10730970" cy="679380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KPIs:</a:t>
            </a:r>
            <a:r>
              <a:rPr lang="en-IN" sz="2400" dirty="0"/>
              <a:t> Total AUM | SIP Inflows | Folios | Schemes</a:t>
            </a:r>
            <a:br>
              <a:rPr lang="en-IN" sz="2400" dirty="0"/>
            </a:br>
            <a:r>
              <a:rPr lang="en-IN" sz="2400" b="1" dirty="0"/>
              <a:t>Charts:</a:t>
            </a:r>
            <a:r>
              <a:rPr lang="en-IN" sz="2400" dirty="0"/>
              <a:t> AUM Trend | AMC-wise AUM</a:t>
            </a:r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E78CE0-8C97-119D-0C51-54C9CF28D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458" y="1499056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56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D42AE-0CA3-7EC4-DD3E-27F83628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3800"/>
              <a:t>Fund &amp; Investor Analytics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568E59-F13F-46FF-451B-27AFCC9F2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5747877"/>
            <a:ext cx="10927080" cy="847475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sz="2400" dirty="0"/>
              <a:t>• Risk vs Return Analysis</a:t>
            </a:r>
            <a:br>
              <a:rPr lang="en-IN" sz="2400" dirty="0"/>
            </a:br>
            <a:r>
              <a:rPr lang="en-IN" sz="2400" dirty="0"/>
              <a:t>• Fund Performance Comparison</a:t>
            </a:r>
            <a:br>
              <a:rPr lang="en-IN" sz="2400" dirty="0"/>
            </a:br>
            <a:r>
              <a:rPr lang="en-IN" sz="2400" dirty="0"/>
              <a:t>• Investor Transactions</a:t>
            </a:r>
            <a:br>
              <a:rPr lang="en-IN" sz="2400" dirty="0"/>
            </a:br>
            <a:r>
              <a:rPr lang="en-IN" sz="2400" dirty="0"/>
              <a:t>• Investor </a:t>
            </a:r>
            <a:r>
              <a:rPr lang="en-IN" sz="2400" dirty="0" err="1"/>
              <a:t>Behavior</a:t>
            </a:r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BA5934-EF21-3E19-2AEE-2462AF030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81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41EB-1507-CEFC-7BBD-7B7E1EFE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F0F5D-585D-B6C0-1849-BAC38EB21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Mutual fund schemes show different risk-return profiles.</a:t>
            </a:r>
            <a:br>
              <a:rPr lang="en-IN" dirty="0"/>
            </a:br>
            <a:r>
              <a:rPr lang="en-IN" dirty="0"/>
              <a:t>• Risk-adjusted metrics improve fund comparison.</a:t>
            </a:r>
            <a:br>
              <a:rPr lang="en-IN" dirty="0"/>
            </a:br>
            <a:r>
              <a:rPr lang="en-IN" dirty="0"/>
              <a:t>• SIP and AUM trends reveal important industry patterns.</a:t>
            </a:r>
            <a:br>
              <a:rPr lang="en-IN" dirty="0"/>
            </a:br>
            <a:r>
              <a:rPr lang="en-IN" dirty="0"/>
              <a:t>• Investor transaction data provides useful </a:t>
            </a:r>
            <a:r>
              <a:rPr lang="en-IN" dirty="0" err="1"/>
              <a:t>behavioral</a:t>
            </a:r>
            <a:r>
              <a:rPr lang="en-IN" dirty="0"/>
              <a:t> insights.</a:t>
            </a:r>
            <a:br>
              <a:rPr lang="en-IN" dirty="0"/>
            </a:br>
            <a:r>
              <a:rPr lang="en-IN" dirty="0"/>
              <a:t>• Advanced risk metrics help identify downside risk.</a:t>
            </a:r>
          </a:p>
        </p:txBody>
      </p:sp>
    </p:spTree>
    <p:extLst>
      <p:ext uri="{BB962C8B-B14F-4D97-AF65-F5344CB8AC3E}">
        <p14:creationId xmlns:p14="http://schemas.microsoft.com/office/powerpoint/2010/main" val="806776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97FF-91E3-164A-D7F7-2A05B56531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CDD72-1C00-82A1-D19E-17AC9B448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Mutual Fund Analytics</a:t>
            </a:r>
            <a:br>
              <a:rPr lang="en-IN" dirty="0"/>
            </a:br>
            <a:r>
              <a:rPr lang="en-IN" dirty="0"/>
              <a:t>Python | SQL | SQLite | Power BI | Pandas</a:t>
            </a:r>
          </a:p>
        </p:txBody>
      </p:sp>
    </p:spTree>
    <p:extLst>
      <p:ext uri="{BB962C8B-B14F-4D97-AF65-F5344CB8AC3E}">
        <p14:creationId xmlns:p14="http://schemas.microsoft.com/office/powerpoint/2010/main" val="102886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431</Words>
  <Application>Microsoft Office PowerPoint</Application>
  <PresentationFormat>Widescreen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Mutual Fund Analytics</vt:lpstr>
      <vt:lpstr>PROBLEM &amp; OBJECTIVE</vt:lpstr>
      <vt:lpstr>DATA SOURCES</vt:lpstr>
      <vt:lpstr>ARCHITECTURE</vt:lpstr>
      <vt:lpstr>Industry Trends</vt:lpstr>
      <vt:lpstr>Investor Analytics</vt:lpstr>
      <vt:lpstr>Return &amp; Risk</vt:lpstr>
      <vt:lpstr>Advanced Risk &amp; Performance Analysis</vt:lpstr>
      <vt:lpstr>Industry Overview</vt:lpstr>
      <vt:lpstr>Fund &amp; Investor Analytics</vt:lpstr>
      <vt:lpstr>Key Findings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WHITE DEVIL</dc:creator>
  <cp:lastModifiedBy>WHITE DEVIL</cp:lastModifiedBy>
  <cp:revision>1</cp:revision>
  <dcterms:created xsi:type="dcterms:W3CDTF">2026-08-19T06:47:44Z</dcterms:created>
  <dcterms:modified xsi:type="dcterms:W3CDTF">2026-08-19T07:32:11Z</dcterms:modified>
</cp:coreProperties>
</file>